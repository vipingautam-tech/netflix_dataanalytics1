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nter"/>
      <p:regular r:id="rId17"/>
    </p:embeddedFont>
    <p:embeddedFont>
      <p:font typeface="Inter"/>
      <p:regular r:id="rId18"/>
    </p:embeddedFont>
    <p:embeddedFont>
      <p:font typeface="Inter"/>
      <p:regular r:id="rId19"/>
    </p:embeddedFont>
    <p:embeddedFont>
      <p:font typeface="Inter"/>
      <p:regular r:id="rId20"/>
    </p:embeddedFont>
    <p:embeddedFont>
      <p:font typeface="Manrope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slideLayout" Target="../slideLayouts/slideLayout7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8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3101221"/>
            <a:ext cx="839783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70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NETFLIX BIG DATA ANALYTICS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4150162"/>
            <a:ext cx="10240685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Presentation Slides Content</a:t>
            </a:r>
            <a:endParaRPr lang="en-US" sz="6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26826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Netflix Movies &amp; TV Shows </a:t>
            </a:r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70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Big Data Analytics Project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735110"/>
            <a:ext cx="646902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 Python | SQL | Power BI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4642247"/>
            <a:ext cx="13042821" cy="1360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vipin gautam</a:t>
            </a:r>
            <a:endParaRPr lang="en-US" sz="2200" dirty="0"/>
          </a:p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Big Data Analytics Course</a:t>
            </a:r>
            <a:endParaRPr lang="en-US" sz="2200" dirty="0"/>
          </a:p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December 2025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60433"/>
            <a:ext cx="324754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📋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Today's Presentation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200548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305442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3409474"/>
            <a:ext cx="4196358" cy="30480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6" name="Text 4"/>
          <p:cNvSpPr/>
          <p:nvPr/>
        </p:nvSpPr>
        <p:spPr>
          <a:xfrm>
            <a:off x="793790" y="3583781"/>
            <a:ext cx="40452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Overview &amp; Objectives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216962" y="305442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409474"/>
            <a:ext cx="4196358" cy="30480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5837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Introduction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40133" y="305442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3409474"/>
            <a:ext cx="4196358" cy="30480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12" name="Text 10"/>
          <p:cNvSpPr/>
          <p:nvPr/>
        </p:nvSpPr>
        <p:spPr>
          <a:xfrm>
            <a:off x="9640133" y="35837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Methodology &amp; Tools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93790" y="433494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93790" y="4689991"/>
            <a:ext cx="4196358" cy="30480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15" name="Text 13"/>
          <p:cNvSpPr/>
          <p:nvPr/>
        </p:nvSpPr>
        <p:spPr>
          <a:xfrm>
            <a:off x="793790" y="4864298"/>
            <a:ext cx="30353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Cleaning Process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216962" y="433494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5216962" y="4689991"/>
            <a:ext cx="4196358" cy="30480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18" name="Text 16"/>
          <p:cNvSpPr/>
          <p:nvPr/>
        </p:nvSpPr>
        <p:spPr>
          <a:xfrm>
            <a:off x="5216962" y="4864298"/>
            <a:ext cx="309860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Findings &amp; Insights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640133" y="433494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06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9640133" y="4689991"/>
            <a:ext cx="4196358" cy="30480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21" name="Text 19"/>
          <p:cNvSpPr/>
          <p:nvPr/>
        </p:nvSpPr>
        <p:spPr>
          <a:xfrm>
            <a:off x="9640133" y="4864298"/>
            <a:ext cx="31758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Analysis Highlights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93790" y="561546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07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793790" y="5970508"/>
            <a:ext cx="4196358" cy="30480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24" name="Text 22"/>
          <p:cNvSpPr/>
          <p:nvPr/>
        </p:nvSpPr>
        <p:spPr>
          <a:xfrm>
            <a:off x="793790" y="6144816"/>
            <a:ext cx="359294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Dashboard Demo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216962" y="561546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08</a:t>
            </a:r>
            <a:endParaRPr lang="en-US" sz="1750" dirty="0"/>
          </a:p>
        </p:txBody>
      </p:sp>
      <p:sp>
        <p:nvSpPr>
          <p:cNvPr id="26" name="Shape 24"/>
          <p:cNvSpPr/>
          <p:nvPr/>
        </p:nvSpPr>
        <p:spPr>
          <a:xfrm>
            <a:off x="5216962" y="5970508"/>
            <a:ext cx="4196358" cy="30480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27" name="Text 25"/>
          <p:cNvSpPr/>
          <p:nvPr/>
        </p:nvSpPr>
        <p:spPr>
          <a:xfrm>
            <a:off x="5216962" y="6144816"/>
            <a:ext cx="376785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Recommendations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640133" y="561546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09</a:t>
            </a:r>
            <a:endParaRPr lang="en-US" sz="1750" dirty="0"/>
          </a:p>
        </p:txBody>
      </p:sp>
      <p:sp>
        <p:nvSpPr>
          <p:cNvPr id="29" name="Shape 27"/>
          <p:cNvSpPr/>
          <p:nvPr/>
        </p:nvSpPr>
        <p:spPr>
          <a:xfrm>
            <a:off x="9640133" y="5970508"/>
            <a:ext cx="4196358" cy="30480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30" name="Text 28"/>
          <p:cNvSpPr/>
          <p:nvPr/>
        </p:nvSpPr>
        <p:spPr>
          <a:xfrm>
            <a:off x="9640133" y="61448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 &amp; Q&amp;A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2361" y="622578"/>
            <a:ext cx="2829997" cy="361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🎯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Objective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2361" y="1074420"/>
            <a:ext cx="5698569" cy="707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OVERVIEW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2361" y="2121456"/>
            <a:ext cx="13045678" cy="452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Perform end-to-end analysis of Netflix's content library to: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2361" y="2828925"/>
            <a:ext cx="13045678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Understand content distribution patterns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2361" y="3270409"/>
            <a:ext cx="13045678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Identify geographic and temporal trends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2361" y="3711892"/>
            <a:ext cx="13045678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Analyze audience targeting strategies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2361" y="4153376"/>
            <a:ext cx="13045678" cy="362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Provide data-driven business recommendations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2361" y="4855250"/>
            <a:ext cx="3396020" cy="424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FF70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Deliverables</a:t>
            </a:r>
            <a:endParaRPr lang="en-US" sz="2650" dirty="0"/>
          </a:p>
        </p:txBody>
      </p:sp>
      <p:sp>
        <p:nvSpPr>
          <p:cNvPr id="10" name="Shape 8"/>
          <p:cNvSpPr/>
          <p:nvPr/>
        </p:nvSpPr>
        <p:spPr>
          <a:xfrm>
            <a:off x="792361" y="5619274"/>
            <a:ext cx="6409611" cy="883563"/>
          </a:xfrm>
          <a:prstGeom prst="roundRect">
            <a:avLst>
              <a:gd name="adj" fmla="val 23062"/>
            </a:avLst>
          </a:prstGeom>
          <a:solidFill>
            <a:srgbClr val="FFFFFF"/>
          </a:solidFill>
          <a:ln w="30480">
            <a:solidFill>
              <a:srgbClr val="FF70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9179" y="5876092"/>
            <a:ext cx="5895975" cy="36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✅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Python Analysis (Data Cleaning + EDA)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309" y="5619274"/>
            <a:ext cx="6409730" cy="883563"/>
          </a:xfrm>
          <a:prstGeom prst="roundRect">
            <a:avLst>
              <a:gd name="adj" fmla="val 23062"/>
            </a:avLst>
          </a:prstGeom>
          <a:solidFill>
            <a:srgbClr val="FFFFFF"/>
          </a:solidFill>
          <a:ln w="30480">
            <a:solidFill>
              <a:srgbClr val="FF70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5127" y="5876092"/>
            <a:ext cx="5896094" cy="36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✅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SQL Queries (40+ business queries)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92361" y="6729174"/>
            <a:ext cx="6409611" cy="883563"/>
          </a:xfrm>
          <a:prstGeom prst="roundRect">
            <a:avLst>
              <a:gd name="adj" fmla="val 23062"/>
            </a:avLst>
          </a:prstGeom>
          <a:solidFill>
            <a:srgbClr val="FFFFFF"/>
          </a:solidFill>
          <a:ln w="30480">
            <a:solidFill>
              <a:srgbClr val="FF70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9179" y="6985992"/>
            <a:ext cx="5895975" cy="36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✅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Power BI Dashboard (Interactive visualizations)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309" y="6729174"/>
            <a:ext cx="6409730" cy="883563"/>
          </a:xfrm>
          <a:prstGeom prst="roundRect">
            <a:avLst>
              <a:gd name="adj" fmla="val 23062"/>
            </a:avLst>
          </a:prstGeom>
          <a:solidFill>
            <a:srgbClr val="FFFFFF"/>
          </a:solidFill>
          <a:ln w="30480">
            <a:solidFill>
              <a:srgbClr val="FF70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5127" y="6985992"/>
            <a:ext cx="5896094" cy="36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✅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Comprehensive Report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9834" y="455533"/>
            <a:ext cx="2508647" cy="266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📊</a:t>
            </a:r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Dataset Specifications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79834" y="788313"/>
            <a:ext cx="4142184" cy="517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2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OVERVIEW</a:t>
            </a:r>
            <a:endParaRPr lang="en-US" sz="3250" dirty="0"/>
          </a:p>
        </p:txBody>
      </p:sp>
      <p:sp>
        <p:nvSpPr>
          <p:cNvPr id="4" name="Text 2"/>
          <p:cNvSpPr/>
          <p:nvPr/>
        </p:nvSpPr>
        <p:spPr>
          <a:xfrm>
            <a:off x="579834" y="1703546"/>
            <a:ext cx="6533317" cy="265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3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Source:</a:t>
            </a:r>
            <a:pPr algn="l"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Kaggle - Netflix Movies &amp; TV Shows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79834" y="2026682"/>
            <a:ext cx="6533317" cy="265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3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Size:</a:t>
            </a:r>
            <a:pPr algn="l"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8,807 titles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79834" y="2349818"/>
            <a:ext cx="6533317" cy="265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3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Time Period:</a:t>
            </a:r>
            <a:pPr algn="l"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Content as of 2021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79834" y="2672953"/>
            <a:ext cx="6533317" cy="265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3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Attributes:</a:t>
            </a:r>
            <a:pPr algn="l"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12 columns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9834" y="3103721"/>
            <a:ext cx="2485311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FF70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Columns: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579834" y="3579852"/>
            <a:ext cx="6533317" cy="265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Title, Type, Director, Cast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79834" y="3902988"/>
            <a:ext cx="6533317" cy="265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Country, Date Added, Release Year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9834" y="4226123"/>
            <a:ext cx="6533317" cy="265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Rating, Duration, Genres</a:t>
            </a:r>
            <a:endParaRPr lang="en-US" sz="13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4869" y="1740813"/>
            <a:ext cx="6533317" cy="653331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524869" y="8460462"/>
            <a:ext cx="6533317" cy="265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00" b="1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Challenge:</a:t>
            </a:r>
            <a:pPr algn="l"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Missing values, inconsistent formats, multi-value fields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616" y="577215"/>
            <a:ext cx="2623899" cy="335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🔧</a:t>
            </a:r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Technology Stack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734616" y="996791"/>
            <a:ext cx="6483310" cy="656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50"/>
              </a:lnSpc>
              <a:buNone/>
            </a:pPr>
            <a:r>
              <a:rPr lang="en-US" sz="41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 &amp; TECHNOLOGIES</a:t>
            </a:r>
            <a:endParaRPr lang="en-US" sz="4100" dirty="0"/>
          </a:p>
        </p:txBody>
      </p:sp>
      <p:sp>
        <p:nvSpPr>
          <p:cNvPr id="4" name="Shape 2"/>
          <p:cNvSpPr/>
          <p:nvPr/>
        </p:nvSpPr>
        <p:spPr>
          <a:xfrm>
            <a:off x="734616" y="1967627"/>
            <a:ext cx="6475571" cy="2948345"/>
          </a:xfrm>
          <a:prstGeom prst="roundRect">
            <a:avLst>
              <a:gd name="adj" fmla="val 6408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2143" y="2185154"/>
            <a:ext cx="629722" cy="629722"/>
          </a:xfrm>
          <a:prstGeom prst="roundRect">
            <a:avLst>
              <a:gd name="adj" fmla="val 14519241"/>
            </a:avLst>
          </a:prstGeom>
          <a:solidFill>
            <a:srgbClr val="FF704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5260" y="2358271"/>
            <a:ext cx="283369" cy="2833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2143" y="3024783"/>
            <a:ext cx="3148727" cy="393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3.x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952143" y="3544252"/>
            <a:ext cx="6040517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pandas, numpy (Data manipulation)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952143" y="3953470"/>
            <a:ext cx="6040517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matplotlib, seaborn (Visualization)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952143" y="4362688"/>
            <a:ext cx="6040517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Jupyter Notebook (Development)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7420094" y="1967627"/>
            <a:ext cx="6475690" cy="2948345"/>
          </a:xfrm>
          <a:prstGeom prst="roundRect">
            <a:avLst>
              <a:gd name="adj" fmla="val 6408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637621" y="2185154"/>
            <a:ext cx="629722" cy="629722"/>
          </a:xfrm>
          <a:prstGeom prst="roundRect">
            <a:avLst>
              <a:gd name="adj" fmla="val 14519241"/>
            </a:avLst>
          </a:prstGeom>
          <a:solidFill>
            <a:srgbClr val="FF704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10738" y="2358271"/>
            <a:ext cx="283369" cy="28336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37621" y="3024783"/>
            <a:ext cx="3148727" cy="393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</a:t>
            </a:r>
            <a:endParaRPr lang="en-US" sz="2450" dirty="0"/>
          </a:p>
        </p:txBody>
      </p:sp>
      <p:sp>
        <p:nvSpPr>
          <p:cNvPr id="15" name="Text 11"/>
          <p:cNvSpPr/>
          <p:nvPr/>
        </p:nvSpPr>
        <p:spPr>
          <a:xfrm>
            <a:off x="7637621" y="3544252"/>
            <a:ext cx="6040636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SQLite Database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7637621" y="3953470"/>
            <a:ext cx="6040636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Complex queries for insights</a:t>
            </a:r>
            <a:endParaRPr lang="en-US" sz="1650" dirty="0"/>
          </a:p>
        </p:txBody>
      </p:sp>
      <p:sp>
        <p:nvSpPr>
          <p:cNvPr id="17" name="Shape 13"/>
          <p:cNvSpPr/>
          <p:nvPr/>
        </p:nvSpPr>
        <p:spPr>
          <a:xfrm>
            <a:off x="734616" y="5125879"/>
            <a:ext cx="6475571" cy="2539127"/>
          </a:xfrm>
          <a:prstGeom prst="roundRect">
            <a:avLst>
              <a:gd name="adj" fmla="val 7441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52143" y="5343406"/>
            <a:ext cx="629722" cy="629722"/>
          </a:xfrm>
          <a:prstGeom prst="roundRect">
            <a:avLst>
              <a:gd name="adj" fmla="val 14519241"/>
            </a:avLst>
          </a:prstGeom>
          <a:solidFill>
            <a:srgbClr val="FF7047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5260" y="5516523"/>
            <a:ext cx="283369" cy="28336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52143" y="6183035"/>
            <a:ext cx="3148727" cy="393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</a:t>
            </a:r>
            <a:endParaRPr lang="en-US" sz="2450" dirty="0"/>
          </a:p>
        </p:txBody>
      </p:sp>
      <p:sp>
        <p:nvSpPr>
          <p:cNvPr id="21" name="Text 16"/>
          <p:cNvSpPr/>
          <p:nvPr/>
        </p:nvSpPr>
        <p:spPr>
          <a:xfrm>
            <a:off x="952143" y="6702504"/>
            <a:ext cx="6040517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Interactive dashboards</a:t>
            </a:r>
            <a:endParaRPr lang="en-US" sz="1650" dirty="0"/>
          </a:p>
        </p:txBody>
      </p:sp>
      <p:sp>
        <p:nvSpPr>
          <p:cNvPr id="22" name="Text 17"/>
          <p:cNvSpPr/>
          <p:nvPr/>
        </p:nvSpPr>
        <p:spPr>
          <a:xfrm>
            <a:off x="952143" y="7111722"/>
            <a:ext cx="6040517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Business intelligence</a:t>
            </a:r>
            <a:endParaRPr lang="en-US" sz="1650" dirty="0"/>
          </a:p>
        </p:txBody>
      </p:sp>
      <p:sp>
        <p:nvSpPr>
          <p:cNvPr id="23" name="Shape 18"/>
          <p:cNvSpPr/>
          <p:nvPr/>
        </p:nvSpPr>
        <p:spPr>
          <a:xfrm>
            <a:off x="7420094" y="5125879"/>
            <a:ext cx="6475690" cy="2539127"/>
          </a:xfrm>
          <a:prstGeom prst="roundRect">
            <a:avLst>
              <a:gd name="adj" fmla="val 7441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637621" y="5343406"/>
            <a:ext cx="629722" cy="629722"/>
          </a:xfrm>
          <a:prstGeom prst="roundRect">
            <a:avLst>
              <a:gd name="adj" fmla="val 14519241"/>
            </a:avLst>
          </a:prstGeom>
          <a:solidFill>
            <a:srgbClr val="FF7047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10738" y="5516523"/>
            <a:ext cx="283369" cy="283369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637621" y="6183035"/>
            <a:ext cx="3148727" cy="393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</a:t>
            </a:r>
            <a:endParaRPr lang="en-US" sz="2450" dirty="0"/>
          </a:p>
        </p:txBody>
      </p:sp>
      <p:sp>
        <p:nvSpPr>
          <p:cNvPr id="27" name="Text 21"/>
          <p:cNvSpPr/>
          <p:nvPr/>
        </p:nvSpPr>
        <p:spPr>
          <a:xfrm>
            <a:off x="7637621" y="6702504"/>
            <a:ext cx="6040636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Version control</a:t>
            </a:r>
            <a:endParaRPr lang="en-US" sz="1650" dirty="0"/>
          </a:p>
        </p:txBody>
      </p:sp>
      <p:sp>
        <p:nvSpPr>
          <p:cNvPr id="28" name="Text 22"/>
          <p:cNvSpPr/>
          <p:nvPr/>
        </p:nvSpPr>
        <p:spPr>
          <a:xfrm>
            <a:off x="7637621" y="7111722"/>
            <a:ext cx="6040636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Project documentation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5295" y="357664"/>
            <a:ext cx="1664970" cy="210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📈</a:t>
            </a:r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Analysis Workflow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5295" y="620554"/>
            <a:ext cx="3252549" cy="406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METHODOLOGY</a:t>
            </a:r>
            <a:endParaRPr lang="en-US" sz="2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5295" y="1222296"/>
            <a:ext cx="390287" cy="1143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5598" y="1352312"/>
            <a:ext cx="1626275" cy="203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Acquisition</a:t>
            </a:r>
            <a:endParaRPr lang="en-US" sz="12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438" y="2132886"/>
            <a:ext cx="390287" cy="1143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70742" y="2262902"/>
            <a:ext cx="2073593" cy="203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Loading &amp; Exploration</a:t>
            </a:r>
            <a:endParaRPr lang="en-US" sz="12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82" y="3043476"/>
            <a:ext cx="390287" cy="11430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65885" y="3173492"/>
            <a:ext cx="2379107" cy="203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Cleaning &amp; Preprocessing</a:t>
            </a:r>
            <a:endParaRPr lang="en-US" sz="12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725" y="3954066"/>
            <a:ext cx="390287" cy="11430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561028" y="4084082"/>
            <a:ext cx="1966317" cy="203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Exploratory Data Analysis</a:t>
            </a:r>
            <a:endParaRPr lang="en-US" sz="12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582" y="4864656"/>
            <a:ext cx="390287" cy="11430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365885" y="4994672"/>
            <a:ext cx="1780461" cy="203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Database Analysis</a:t>
            </a:r>
            <a:endParaRPr lang="en-US" sz="125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438" y="5775246"/>
            <a:ext cx="390287" cy="11430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170742" y="5905262"/>
            <a:ext cx="2259568" cy="203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Dashboard Creation</a:t>
            </a:r>
            <a:endParaRPr lang="en-US" sz="125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295" y="6685836"/>
            <a:ext cx="390287" cy="114300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975598" y="6815852"/>
            <a:ext cx="2219444" cy="203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 &amp; Recommendations</a:t>
            </a:r>
            <a:endParaRPr lang="en-US" sz="1250" dirty="0"/>
          </a:p>
        </p:txBody>
      </p:sp>
      <p:sp>
        <p:nvSpPr>
          <p:cNvPr id="18" name="Text 9"/>
          <p:cNvSpPr/>
          <p:nvPr/>
        </p:nvSpPr>
        <p:spPr>
          <a:xfrm>
            <a:off x="455295" y="7612737"/>
            <a:ext cx="13719810" cy="260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Approach: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Systematic, reproducible, business-focused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99743"/>
            <a:ext cx="300454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🧹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Data Quality Issues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1244798"/>
            <a:ext cx="842057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CLEANING CHALLENGES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2293739"/>
            <a:ext cx="13042821" cy="3917156"/>
          </a:xfrm>
          <a:prstGeom prst="roundRect">
            <a:avLst>
              <a:gd name="adj" fmla="val 521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2301359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28343" y="2445068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Issue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4288988" y="2445068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Impact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45824" y="2445068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Solution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01410" y="2951678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28343" y="3095387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Missing Directors (30%)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4288988" y="3095387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Analysis gaps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45824" y="3095387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Fill with "Unknown"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801410" y="3601998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28343" y="3745706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Missing Cast (9%)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4288988" y="3745706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Limited insights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545824" y="3745706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Fill with "No Info"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801410" y="4252317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28343" y="4396026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Inconsistent Dates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4288988" y="4396026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Temporal analysis errors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7545824" y="4396026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Standardize format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801410" y="4902637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028343" y="5046345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Multi-value Fields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4288988" y="5046345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Complex parsing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7545824" y="5046345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Split &amp; analyze</a:t>
            </a:r>
            <a:endParaRPr lang="en-US" sz="1750" dirty="0"/>
          </a:p>
        </p:txBody>
      </p:sp>
      <p:sp>
        <p:nvSpPr>
          <p:cNvPr id="25" name="Shape 23"/>
          <p:cNvSpPr/>
          <p:nvPr/>
        </p:nvSpPr>
        <p:spPr>
          <a:xfrm>
            <a:off x="801410" y="5552956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028343" y="5696664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Duplicates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4288988" y="5696664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Skewed results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7545824" y="5696664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Remove</a:t>
            </a:r>
            <a:endParaRPr lang="en-US" sz="1750" dirty="0"/>
          </a:p>
        </p:txBody>
      </p:sp>
      <p:sp>
        <p:nvSpPr>
          <p:cNvPr id="29" name="Shape 27"/>
          <p:cNvSpPr/>
          <p:nvPr/>
        </p:nvSpPr>
        <p:spPr>
          <a:xfrm>
            <a:off x="793790" y="6466046"/>
            <a:ext cx="13042821" cy="963811"/>
          </a:xfrm>
          <a:prstGeom prst="roundRect">
            <a:avLst>
              <a:gd name="adj" fmla="val 21181"/>
            </a:avLst>
          </a:prstGeom>
          <a:solidFill>
            <a:srgbClr val="FFC4B3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6817757"/>
            <a:ext cx="283488" cy="226814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530906" y="6749534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Result: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Clean dataset with 95%+ completeness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4502" y="608528"/>
            <a:ext cx="3140631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🎬</a:t>
            </a:r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Movies vs TV Shows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774502" y="1042630"/>
            <a:ext cx="9092803" cy="691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FINDING #1 - </a:t>
            </a:r>
            <a:pPr algn="l" indent="0" marL="0">
              <a:lnSpc>
                <a:spcPts val="5400"/>
              </a:lnSpc>
              <a:buNone/>
            </a:pPr>
            <a:r>
              <a:rPr lang="en-US" sz="4350" dirty="0">
                <a:solidFill>
                  <a:srgbClr val="FF70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TYPE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774502" y="2287191"/>
            <a:ext cx="3319343" cy="414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Distribution: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4502" y="2923342"/>
            <a:ext cx="6270784" cy="354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Movies:</a:t>
            </a:r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69.6% (6,131 titles)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4502" y="3354824"/>
            <a:ext cx="6270784" cy="354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TV Shows:</a:t>
            </a:r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30.4% (2,676 titles)</a:t>
            </a:r>
            <a:endParaRPr lang="en-US" sz="17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502" y="3957757"/>
            <a:ext cx="6270784" cy="32598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829639" y="7248049"/>
            <a:ext cx="221218" cy="221218"/>
          </a:xfrm>
          <a:prstGeom prst="roundRect">
            <a:avLst>
              <a:gd name="adj" fmla="val 8267"/>
            </a:avLst>
          </a:prstGeom>
          <a:solidFill>
            <a:srgbClr val="4D1100"/>
          </a:solidFill>
          <a:ln/>
        </p:spPr>
      </p:sp>
      <p:sp>
        <p:nvSpPr>
          <p:cNvPr id="9" name="Text 6"/>
          <p:cNvSpPr/>
          <p:nvPr/>
        </p:nvSpPr>
        <p:spPr>
          <a:xfrm>
            <a:off x="3111818" y="7248049"/>
            <a:ext cx="721876" cy="221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Movies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3986093" y="7248049"/>
            <a:ext cx="221218" cy="221218"/>
          </a:xfrm>
          <a:prstGeom prst="roundRect">
            <a:avLst>
              <a:gd name="adj" fmla="val 8267"/>
            </a:avLst>
          </a:prstGeom>
          <a:solidFill>
            <a:srgbClr val="FF410A"/>
          </a:solidFill>
          <a:ln/>
        </p:spPr>
      </p:sp>
      <p:sp>
        <p:nvSpPr>
          <p:cNvPr id="11" name="Text 8"/>
          <p:cNvSpPr/>
          <p:nvPr/>
        </p:nvSpPr>
        <p:spPr>
          <a:xfrm>
            <a:off x="4268272" y="7248049"/>
            <a:ext cx="985480" cy="221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TV Shows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592735" y="3395782"/>
            <a:ext cx="3319343" cy="414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Trend Analysis: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7592735" y="4031933"/>
            <a:ext cx="6270784" cy="354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TV shows growing 5% YoY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7592735" y="4463415"/>
            <a:ext cx="6270784" cy="354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Shift from 80/20 (2015) to 70/30 (2021)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7592735" y="5066348"/>
            <a:ext cx="6270784" cy="1294328"/>
          </a:xfrm>
          <a:prstGeom prst="roundRect">
            <a:avLst>
              <a:gd name="adj" fmla="val 15388"/>
            </a:avLst>
          </a:prstGeom>
          <a:solidFill>
            <a:srgbClr val="FFC4B3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3953" y="5408295"/>
            <a:ext cx="276582" cy="22121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311753" y="5342811"/>
            <a:ext cx="5330547" cy="708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Insight:</a:t>
            </a:r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Netflix responding to binge-watching culture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2555" y="347663"/>
            <a:ext cx="2731413" cy="205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🌍</a:t>
            </a:r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Top Content Producing Countries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42555" y="603409"/>
            <a:ext cx="7189113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4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FINDING #2 - </a:t>
            </a:r>
            <a:pPr algn="l" indent="0" marL="0">
              <a:lnSpc>
                <a:spcPts val="3100"/>
              </a:lnSpc>
              <a:buNone/>
            </a:pPr>
            <a:r>
              <a:rPr lang="en-US" sz="2450" dirty="0">
                <a:solidFill>
                  <a:srgbClr val="FF70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GEOGRAPHIC DISTRIBUTION</a:t>
            </a:r>
            <a:endParaRPr lang="en-US" sz="2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555" y="1188125"/>
            <a:ext cx="13745289" cy="76972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42555" y="9075063"/>
            <a:ext cx="1896785" cy="237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FF70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Insight: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42555" y="9501783"/>
            <a:ext cx="13745289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 dominance clear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42555" y="9748242"/>
            <a:ext cx="13745289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Emerging markets (India, South Korea) strong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42555" y="9994702"/>
            <a:ext cx="13745289" cy="202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100+ countries with &lt;20 titles (long tail)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2025-12-31T06:53:06Z</dcterms:created>
  <dcterms:modified xsi:type="dcterms:W3CDTF">2025-12-31T06:53:06Z</dcterms:modified>
</cp:coreProperties>
</file>