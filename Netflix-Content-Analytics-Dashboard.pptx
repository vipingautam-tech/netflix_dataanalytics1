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Nunito Semi Bold"/>
      <p:regular r:id="rId17"/>
    </p:embeddedFont>
    <p:embeddedFont>
      <p:font typeface="Nunito Semi Bold"/>
      <p:regular r:id="rId18"/>
    </p:embeddedFont>
    <p:embeddedFont>
      <p:font typeface="Nunito Semi Bold"/>
      <p:regular r:id="rId19"/>
    </p:embeddedFont>
    <p:embeddedFont>
      <p:font typeface="Nunito Semi Bold"/>
      <p:regular r:id="rId20"/>
    </p:embeddedFont>
    <p:embeddedFont>
      <p:font typeface="PT Sans"/>
      <p:regular r:id="rId21"/>
    </p:embeddedFont>
    <p:embeddedFont>
      <p:font typeface="PT Sans"/>
      <p:regular r:id="rId22"/>
    </p:embeddedFont>
    <p:embeddedFont>
      <p:font typeface="PT Sans"/>
      <p:regular r:id="rId23"/>
    </p:embeddedFont>
    <p:embeddedFont>
      <p:font typeface="PT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297192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Netflix Content Analytics Dashboard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064198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comprehensive big data analysis exploring content patterns, geographic distribution, and viewing trends across Netflix's vast entertainment library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37724" y="5482471"/>
            <a:ext cx="1275874" cy="449818"/>
          </a:xfrm>
          <a:prstGeom prst="roundRect">
            <a:avLst>
              <a:gd name="adj" fmla="val 63861"/>
            </a:avLst>
          </a:prstGeom>
          <a:solidFill>
            <a:srgbClr val="48330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1313" y="5611654"/>
            <a:ext cx="191453" cy="1914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68492" y="5554266"/>
            <a:ext cx="701516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2233255" y="5482471"/>
            <a:ext cx="906066" cy="449818"/>
          </a:xfrm>
          <a:prstGeom prst="roundRect">
            <a:avLst>
              <a:gd name="adj" fmla="val 63861"/>
            </a:avLst>
          </a:prstGeom>
          <a:solidFill>
            <a:srgbClr val="483304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6845" y="5611654"/>
            <a:ext cx="191453" cy="1914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64023" y="5554266"/>
            <a:ext cx="331708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SQL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3258979" y="5482471"/>
            <a:ext cx="2316242" cy="449818"/>
          </a:xfrm>
          <a:prstGeom prst="roundRect">
            <a:avLst>
              <a:gd name="adj" fmla="val 63861"/>
            </a:avLst>
          </a:prstGeom>
          <a:solidFill>
            <a:srgbClr val="483304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02568" y="5611654"/>
            <a:ext cx="191453" cy="19145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689747" y="5554266"/>
            <a:ext cx="1741884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VISUALIZATION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324808"/>
            <a:ext cx="1956078" cy="495538"/>
          </a:xfrm>
          <a:prstGeom prst="roundRect">
            <a:avLst>
              <a:gd name="adj" fmla="val 57969"/>
            </a:avLst>
          </a:prstGeom>
          <a:noFill/>
          <a:ln w="22860">
            <a:solidFill>
              <a:srgbClr val="F2B4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173" y="1419463"/>
            <a:ext cx="1623179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1916073"/>
            <a:ext cx="1067538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Understanding Netflix's Content Universe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37724" y="3194447"/>
            <a:ext cx="753939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interactive dashboard transforms raw Netflix data into actionable insights, revealing patterns in content strategy, production trends, and audience targeting across 120+ countries and nearly 9,000 titles.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558903"/>
            <a:ext cx="753939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By analyzing temporal trends, geographic distribution, and genre preferences, we uncover the strategic decisions driving one of the world's leading streaming platforms.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923359"/>
            <a:ext cx="753939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Analysis Period: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Multi-year dataset spanning Netflix's expansion phase (2015-2020+)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968621" y="321837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Technologies Used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968621" y="3809643"/>
            <a:ext cx="483155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for data processing and analysis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968621" y="4276368"/>
            <a:ext cx="483155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pandas for data manipulation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968621" y="4743093"/>
            <a:ext cx="483155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matplotlib for visualization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968621" y="5209818"/>
            <a:ext cx="483155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SQL for database queries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968621" y="5676543"/>
            <a:ext cx="483155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HTML/CSS/JavaScript for dashboard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79126"/>
            <a:ext cx="702444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Content Library at a Glance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881551"/>
            <a:ext cx="301430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8,807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936784" y="397049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Total Titles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7724" y="4466034"/>
            <a:ext cx="301430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Complete content catalog analyzed across all categories and regions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4151233" y="2881551"/>
            <a:ext cx="301430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6,131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4250293" y="397049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Movies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51233" y="4466034"/>
            <a:ext cx="301430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Feature films spanning multiple genres, languages, and production countries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464743" y="2881551"/>
            <a:ext cx="301430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2,676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7563803" y="397049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TV Shows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64743" y="4466034"/>
            <a:ext cx="301430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Series content including originals, licensed shows, and international productions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0778252" y="2881551"/>
            <a:ext cx="3014424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120+</a:t>
            </a:r>
            <a:endParaRPr lang="en-US" sz="6200" dirty="0"/>
          </a:p>
        </p:txBody>
      </p:sp>
      <p:sp>
        <p:nvSpPr>
          <p:cNvPr id="13" name="Text 11"/>
          <p:cNvSpPr/>
          <p:nvPr/>
        </p:nvSpPr>
        <p:spPr>
          <a:xfrm>
            <a:off x="10877312" y="397049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Countries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78252" y="4466034"/>
            <a:ext cx="3014424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Global reach with content from diverse markets and cultures worldwide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37724" y="5884307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These metrics represent Netflix's transformation from a DVD rental service to a global streaming giant, with strategic investments in diverse content portfolios.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21331"/>
            <a:ext cx="869358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Movies Dominate the Content Mix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453521"/>
            <a:ext cx="5508546" cy="281475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499003" y="5298758"/>
            <a:ext cx="239316" cy="239316"/>
          </a:xfrm>
          <a:prstGeom prst="roundRect">
            <a:avLst>
              <a:gd name="adj" fmla="val 7642"/>
            </a:avLst>
          </a:prstGeom>
          <a:solidFill>
            <a:srgbClr val="483304"/>
          </a:solidFill>
          <a:ln/>
        </p:spPr>
      </p:sp>
      <p:sp>
        <p:nvSpPr>
          <p:cNvPr id="5" name="Text 2"/>
          <p:cNvSpPr/>
          <p:nvPr/>
        </p:nvSpPr>
        <p:spPr>
          <a:xfrm>
            <a:off x="2799278" y="5298758"/>
            <a:ext cx="716518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Movies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3668197" y="5298758"/>
            <a:ext cx="239316" cy="239316"/>
          </a:xfrm>
          <a:prstGeom prst="roundRect">
            <a:avLst>
              <a:gd name="adj" fmla="val 7642"/>
            </a:avLst>
          </a:prstGeom>
          <a:solidFill>
            <a:srgbClr val="F2B227"/>
          </a:solidFill>
          <a:ln/>
        </p:spPr>
      </p:sp>
      <p:sp>
        <p:nvSpPr>
          <p:cNvPr id="7" name="Text 4"/>
          <p:cNvSpPr/>
          <p:nvPr/>
        </p:nvSpPr>
        <p:spPr>
          <a:xfrm>
            <a:off x="3968472" y="5298758"/>
            <a:ext cx="985838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TV Shows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937772" y="2423636"/>
            <a:ext cx="334101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Strategic Content Balance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937772" y="3014901"/>
            <a:ext cx="686240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Movies represent 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highlight>
                  <a:srgbClr val="F2B42D"/>
                </a:highlight>
                <a:latin typeface="PT Sans" pitchFamily="34" charset="0"/>
                <a:ea typeface="PT Sans" pitchFamily="34" charset="-122"/>
                <a:cs typeface="PT Sans" pitchFamily="34" charset="-120"/>
              </a:rPr>
              <a:t>69.6% of Netflix's library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reflecting the platform's emphasis on film content for immediate viewing satisfaction.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937772" y="4379357"/>
            <a:ext cx="686240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TV shows, while fewer in number, drive sustained engagement through episodic storytelling and binge-watching behavior, accounting for 30.4% of the catalog.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937772" y="5743813"/>
            <a:ext cx="686240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distribution aligns with consumption patterns where movies offer quick entertainment while series build long-term subscriber retention.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138" y="417314"/>
            <a:ext cx="1578888" cy="285274"/>
          </a:xfrm>
          <a:prstGeom prst="roundRect">
            <a:avLst>
              <a:gd name="adj" fmla="val 63843"/>
            </a:avLst>
          </a:prstGeom>
          <a:solidFill>
            <a:srgbClr val="4833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2102" y="499229"/>
            <a:ext cx="121325" cy="1213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029" y="462796"/>
            <a:ext cx="121503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GLOBAL DISTRIBUTION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31138" y="763191"/>
            <a:ext cx="5376743" cy="446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Top Content Producing Countries</a:t>
            </a:r>
            <a:endParaRPr lang="en-US" sz="2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38" y="1437084"/>
            <a:ext cx="13568124" cy="75980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1138" y="9205913"/>
            <a:ext cx="1356812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United States dominates with </a:t>
            </a:r>
            <a:pPr algn="l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D7425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45% of total content</a:t>
            </a:r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but Netflix's investment in international markets—particularly India, UK, and Asian markets—demonstrates a clear globalization strategy to capture diverse audiences worldwide.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0207" y="711279"/>
            <a:ext cx="6024920" cy="588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Content Expansion Timeline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925235" y="1599724"/>
            <a:ext cx="22860" cy="4732973"/>
          </a:xfrm>
          <a:prstGeom prst="roundRect">
            <a:avLst>
              <a:gd name="adj" fmla="val 1312936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127462" y="1813322"/>
            <a:ext cx="600194" cy="22860"/>
          </a:xfrm>
          <a:prstGeom prst="roundRect">
            <a:avLst>
              <a:gd name="adj" fmla="val 1312936"/>
            </a:avLst>
          </a:prstGeom>
          <a:solidFill>
            <a:srgbClr val="F2B42D"/>
          </a:solidFill>
          <a:ln/>
        </p:spPr>
      </p:sp>
      <p:sp>
        <p:nvSpPr>
          <p:cNvPr id="6" name="Shape 3"/>
          <p:cNvSpPr/>
          <p:nvPr/>
        </p:nvSpPr>
        <p:spPr>
          <a:xfrm>
            <a:off x="700147" y="1599724"/>
            <a:ext cx="450175" cy="450175"/>
          </a:xfrm>
          <a:prstGeom prst="roundRect">
            <a:avLst>
              <a:gd name="adj" fmla="val 66671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3967" y="1648242"/>
            <a:ext cx="282416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925717" y="1668423"/>
            <a:ext cx="2354580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Pre-2015: Foundation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925717" y="2082641"/>
            <a:ext cx="6518077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Limited content library focused primarily on licensed US productions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127462" y="3016568"/>
            <a:ext cx="600194" cy="22860"/>
          </a:xfrm>
          <a:prstGeom prst="roundRect">
            <a:avLst>
              <a:gd name="adj" fmla="val 1312936"/>
            </a:avLst>
          </a:prstGeom>
          <a:solidFill>
            <a:srgbClr val="D7425E"/>
          </a:solidFill>
          <a:ln/>
        </p:spPr>
      </p:sp>
      <p:sp>
        <p:nvSpPr>
          <p:cNvPr id="11" name="Shape 8"/>
          <p:cNvSpPr/>
          <p:nvPr/>
        </p:nvSpPr>
        <p:spPr>
          <a:xfrm>
            <a:off x="700147" y="2802969"/>
            <a:ext cx="450175" cy="450175"/>
          </a:xfrm>
          <a:prstGeom prst="roundRect">
            <a:avLst>
              <a:gd name="adj" fmla="val 66671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3967" y="2851487"/>
            <a:ext cx="282416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925717" y="2871668"/>
            <a:ext cx="2685217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2015-2017: Acceleration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1925717" y="3285887"/>
            <a:ext cx="6518077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Rapid content acquisition and initial Netflix Originals launch phase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1127462" y="4219813"/>
            <a:ext cx="600194" cy="22860"/>
          </a:xfrm>
          <a:prstGeom prst="roundRect">
            <a:avLst>
              <a:gd name="adj" fmla="val 1312936"/>
            </a:avLst>
          </a:prstGeom>
          <a:solidFill>
            <a:srgbClr val="DD785E"/>
          </a:solidFill>
          <a:ln/>
        </p:spPr>
      </p:sp>
      <p:sp>
        <p:nvSpPr>
          <p:cNvPr id="16" name="Shape 13"/>
          <p:cNvSpPr/>
          <p:nvPr/>
        </p:nvSpPr>
        <p:spPr>
          <a:xfrm>
            <a:off x="700147" y="4006215"/>
            <a:ext cx="450175" cy="450175"/>
          </a:xfrm>
          <a:prstGeom prst="roundRect">
            <a:avLst>
              <a:gd name="adj" fmla="val 66671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3967" y="4054733"/>
            <a:ext cx="282416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925717" y="4074914"/>
            <a:ext cx="2744033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2018-2019: Peak Growth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1925717" y="4489133"/>
            <a:ext cx="6518077" cy="6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Massive expansion with thousands of titles added annually across all categories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1127462" y="5743218"/>
            <a:ext cx="600194" cy="22860"/>
          </a:xfrm>
          <a:prstGeom prst="roundRect">
            <a:avLst>
              <a:gd name="adj" fmla="val 1312936"/>
            </a:avLst>
          </a:prstGeom>
          <a:solidFill>
            <a:srgbClr val="48A8E2"/>
          </a:solidFill>
          <a:ln/>
        </p:spPr>
      </p:sp>
      <p:sp>
        <p:nvSpPr>
          <p:cNvPr id="21" name="Shape 18"/>
          <p:cNvSpPr/>
          <p:nvPr/>
        </p:nvSpPr>
        <p:spPr>
          <a:xfrm>
            <a:off x="700147" y="5529620"/>
            <a:ext cx="450175" cy="450175"/>
          </a:xfrm>
          <a:prstGeom prst="roundRect">
            <a:avLst>
              <a:gd name="adj" fmla="val 66671"/>
            </a:avLst>
          </a:prstGeom>
          <a:solidFill>
            <a:srgbClr val="00002E"/>
          </a:solidFill>
          <a:ln w="22860">
            <a:solidFill>
              <a:srgbClr val="48A8E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3967" y="5578138"/>
            <a:ext cx="282416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925717" y="5598319"/>
            <a:ext cx="2353985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2020+: Maturation</a:t>
            </a:r>
            <a:endParaRPr lang="en-US" sz="1850" dirty="0"/>
          </a:p>
        </p:txBody>
      </p:sp>
      <p:sp>
        <p:nvSpPr>
          <p:cNvPr id="24" name="Text 21"/>
          <p:cNvSpPr/>
          <p:nvPr/>
        </p:nvSpPr>
        <p:spPr>
          <a:xfrm>
            <a:off x="1925717" y="6012537"/>
            <a:ext cx="6518077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Strategic curation balancing quantity with quality and audience preferences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700207" y="6557724"/>
            <a:ext cx="7743587" cy="960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2015-2020 period marked Netflix's most aggressive content expansion, with year-over-year increases exceeding 50% as the company invested billions in securing global streaming dominance.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862" y="329089"/>
            <a:ext cx="505789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Genre Preferences and Content Ratings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8862" y="980123"/>
            <a:ext cx="1592818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Top 10 Genre Categories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8862" y="1354217"/>
            <a:ext cx="59769" cy="59769"/>
          </a:xfrm>
          <a:prstGeom prst="roundRect">
            <a:avLst>
              <a:gd name="adj" fmla="val 764945"/>
            </a:avLst>
          </a:prstGeom>
          <a:solidFill>
            <a:srgbClr val="F2B42D"/>
          </a:solidFill>
          <a:ln/>
        </p:spPr>
      </p:sp>
      <p:sp>
        <p:nvSpPr>
          <p:cNvPr id="5" name="Text 3"/>
          <p:cNvSpPr/>
          <p:nvPr/>
        </p:nvSpPr>
        <p:spPr>
          <a:xfrm>
            <a:off x="598289" y="1290638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International Movies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8289" y="1586270"/>
            <a:ext cx="6570940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Global cinema from diverse cultures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8862" y="2080617"/>
            <a:ext cx="59769" cy="59769"/>
          </a:xfrm>
          <a:prstGeom prst="roundRect">
            <a:avLst>
              <a:gd name="adj" fmla="val 764945"/>
            </a:avLst>
          </a:prstGeom>
          <a:solidFill>
            <a:srgbClr val="D7425E"/>
          </a:solidFill>
          <a:ln/>
        </p:spPr>
      </p:sp>
      <p:sp>
        <p:nvSpPr>
          <p:cNvPr id="8" name="Text 6"/>
          <p:cNvSpPr/>
          <p:nvPr/>
        </p:nvSpPr>
        <p:spPr>
          <a:xfrm>
            <a:off x="598289" y="2017038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Dramas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8289" y="2312670"/>
            <a:ext cx="6570940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Character-driven storytelling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8862" y="2807018"/>
            <a:ext cx="59769" cy="59769"/>
          </a:xfrm>
          <a:prstGeom prst="roundRect">
            <a:avLst>
              <a:gd name="adj" fmla="val 764945"/>
            </a:avLst>
          </a:prstGeom>
          <a:solidFill>
            <a:srgbClr val="DD785E"/>
          </a:solidFill>
          <a:ln/>
        </p:spPr>
      </p:sp>
      <p:sp>
        <p:nvSpPr>
          <p:cNvPr id="11" name="Text 9"/>
          <p:cNvSpPr/>
          <p:nvPr/>
        </p:nvSpPr>
        <p:spPr>
          <a:xfrm>
            <a:off x="598289" y="2743438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Comedies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8289" y="3039070"/>
            <a:ext cx="6570940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Humor across cultures and styles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8862" y="3533418"/>
            <a:ext cx="59769" cy="59769"/>
          </a:xfrm>
          <a:prstGeom prst="roundRect">
            <a:avLst>
              <a:gd name="adj" fmla="val 764945"/>
            </a:avLst>
          </a:prstGeom>
          <a:solidFill>
            <a:srgbClr val="48A8E2"/>
          </a:solidFill>
          <a:ln/>
        </p:spPr>
      </p:sp>
      <p:sp>
        <p:nvSpPr>
          <p:cNvPr id="14" name="Text 12"/>
          <p:cNvSpPr/>
          <p:nvPr/>
        </p:nvSpPr>
        <p:spPr>
          <a:xfrm>
            <a:off x="598289" y="3469838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Action &amp; Adventure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289" y="3765471"/>
            <a:ext cx="6570940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High-energy entertainment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8862" y="4259818"/>
            <a:ext cx="59769" cy="59769"/>
          </a:xfrm>
          <a:prstGeom prst="roundRect">
            <a:avLst>
              <a:gd name="adj" fmla="val 764945"/>
            </a:avLst>
          </a:prstGeom>
          <a:solidFill>
            <a:srgbClr val="59ABA9"/>
          </a:solidFill>
          <a:ln/>
        </p:spPr>
      </p:sp>
      <p:sp>
        <p:nvSpPr>
          <p:cNvPr id="17" name="Text 15"/>
          <p:cNvSpPr/>
          <p:nvPr/>
        </p:nvSpPr>
        <p:spPr>
          <a:xfrm>
            <a:off x="598289" y="4196239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Documentaries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289" y="4491871"/>
            <a:ext cx="6570940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Real-world stories and education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68791" y="980123"/>
            <a:ext cx="1761768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Content Rating Distribution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107811" y="2068473"/>
            <a:ext cx="1472089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37%</a:t>
            </a:r>
            <a:endParaRPr lang="en-US" sz="23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6243" y="1320522"/>
            <a:ext cx="1795343" cy="179534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139958" y="3265408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TV-MA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468791" y="3561040"/>
            <a:ext cx="6750368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Mature audiences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107811" y="4769644"/>
            <a:ext cx="1472089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22%</a:t>
            </a:r>
            <a:endParaRPr lang="en-US" sz="23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243" y="4021693"/>
            <a:ext cx="1795343" cy="179534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0139958" y="5966579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TV-14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7468791" y="6262211"/>
            <a:ext cx="6750368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Teen-appropriate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0107811" y="7470815"/>
            <a:ext cx="1472089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18%</a:t>
            </a:r>
            <a:endParaRPr lang="en-US" sz="235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243" y="6722864"/>
            <a:ext cx="1795343" cy="1795343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0139958" y="8667750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R-Rated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7468791" y="8963382"/>
            <a:ext cx="6750368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Adult content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0107811" y="10171986"/>
            <a:ext cx="1472089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23%</a:t>
            </a:r>
            <a:endParaRPr lang="en-US" sz="235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6243" y="9424035"/>
            <a:ext cx="1795343" cy="1795343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0139958" y="11368921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Other Ratings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7468791" y="11664553"/>
            <a:ext cx="6750368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Family &amp; general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418862" y="12125087"/>
            <a:ext cx="13792676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DD785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TV-MA content leads</a:t>
            </a:r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the platform, reflecting Netflix's positioning as an adult-focused entertainment service, though family-friendly options remain strategically important for household retention.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9012" y="678299"/>
            <a:ext cx="1754386" cy="389573"/>
          </a:xfrm>
          <a:prstGeom prst="roundRect">
            <a:avLst>
              <a:gd name="adj" fmla="val 58882"/>
            </a:avLst>
          </a:prstGeom>
          <a:noFill/>
          <a:ln w="15240">
            <a:solidFill>
              <a:srgbClr val="F2B42D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909" y="796647"/>
            <a:ext cx="152876" cy="1528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8224" y="750808"/>
            <a:ext cx="1265277" cy="24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GROWTH ANALYSIS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69012" y="1144310"/>
            <a:ext cx="7805976" cy="1124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Movies vs TV Shows: Evolution Over Time</a:t>
            </a:r>
            <a:endParaRPr lang="en-US" sz="3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12" y="2555438"/>
            <a:ext cx="955715" cy="138969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15822" y="2746534"/>
            <a:ext cx="2259687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Movie Growth Pattern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1815822" y="3142298"/>
            <a:ext cx="6659166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Steady accumulation with emphasis on international acquisitions and varied genres for broad appeal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012" y="3945136"/>
            <a:ext cx="955715" cy="13896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815822" y="4136231"/>
            <a:ext cx="2248853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TV Show Strategy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1815822" y="4531995"/>
            <a:ext cx="6659166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Strategic investment in original series and licensed content to drive subscription retention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012" y="5334833"/>
            <a:ext cx="955715" cy="138969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815822" y="5525929"/>
            <a:ext cx="2248853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Portfolio Balance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1815822" y="5921693"/>
            <a:ext cx="6659166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Maintaining optimal mix to serve different viewing habits and maximize platform engagement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669012" y="6939558"/>
            <a:ext cx="7805976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While movies provide catalog depth, TV shows create viewing habits. Netflix's dual strategy ensures both immediate satisfaction and long-term engagement across subscriber segments.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592" y="612100"/>
            <a:ext cx="4959072" cy="619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Strategic Insights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37592" y="1653421"/>
            <a:ext cx="6472238" cy="2420898"/>
          </a:xfrm>
          <a:prstGeom prst="roundRect">
            <a:avLst>
              <a:gd name="adj" fmla="val 13059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1193" y="1887022"/>
            <a:ext cx="632222" cy="632222"/>
          </a:xfrm>
          <a:prstGeom prst="roundRect">
            <a:avLst>
              <a:gd name="adj" fmla="val 14461828"/>
            </a:avLst>
          </a:prstGeom>
          <a:solidFill>
            <a:srgbClr val="F2B4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5024" y="2060853"/>
            <a:ext cx="284440" cy="284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1193" y="2729984"/>
            <a:ext cx="2883218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Content Mix Optimization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71193" y="3166348"/>
            <a:ext cx="6005036" cy="674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70-30 movie-to-TV ratio provides catalog breadth while TV originals drive subscriber loyalty and reduce churn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20570" y="1653421"/>
            <a:ext cx="6472238" cy="2420898"/>
          </a:xfrm>
          <a:prstGeom prst="roundRect">
            <a:avLst>
              <a:gd name="adj" fmla="val 13059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54171" y="1887022"/>
            <a:ext cx="632222" cy="632222"/>
          </a:xfrm>
          <a:prstGeom prst="roundRect">
            <a:avLst>
              <a:gd name="adj" fmla="val 14461828"/>
            </a:avLst>
          </a:prstGeom>
          <a:solidFill>
            <a:srgbClr val="D7425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8002" y="2060853"/>
            <a:ext cx="284440" cy="2844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4171" y="2729984"/>
            <a:ext cx="2479477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Globalization Success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7654171" y="3166348"/>
            <a:ext cx="6005036" cy="674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45% US content balanced with strong international presence positions Netflix for sustained global growth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737592" y="4285059"/>
            <a:ext cx="6472238" cy="2420898"/>
          </a:xfrm>
          <a:prstGeom prst="roundRect">
            <a:avLst>
              <a:gd name="adj" fmla="val 13059"/>
            </a:avLst>
          </a:prstGeom>
          <a:solidFill>
            <a:srgbClr val="00002E"/>
          </a:solidFill>
          <a:ln w="22860">
            <a:solidFill>
              <a:srgbClr val="48A8E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71193" y="4518660"/>
            <a:ext cx="632222" cy="632222"/>
          </a:xfrm>
          <a:prstGeom prst="roundRect">
            <a:avLst>
              <a:gd name="adj" fmla="val 14461828"/>
            </a:avLst>
          </a:prstGeom>
          <a:solidFill>
            <a:srgbClr val="48A8E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5024" y="4692491"/>
            <a:ext cx="284440" cy="2844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71193" y="5361623"/>
            <a:ext cx="3242429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Aggressive Expansion Phase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71193" y="5797987"/>
            <a:ext cx="6005036" cy="674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2015-2020 growth trajectory established Netflix as the dominant streaming platform through massive content investment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7420570" y="4285059"/>
            <a:ext cx="6472238" cy="2420898"/>
          </a:xfrm>
          <a:prstGeom prst="roundRect">
            <a:avLst>
              <a:gd name="adj" fmla="val 13059"/>
            </a:avLst>
          </a:prstGeom>
          <a:solidFill>
            <a:srgbClr val="00002E"/>
          </a:solidFill>
          <a:ln w="22860">
            <a:solidFill>
              <a:srgbClr val="59ABA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54171" y="4518660"/>
            <a:ext cx="632222" cy="632222"/>
          </a:xfrm>
          <a:prstGeom prst="roundRect">
            <a:avLst>
              <a:gd name="adj" fmla="val 14461828"/>
            </a:avLst>
          </a:prstGeom>
          <a:solidFill>
            <a:srgbClr val="59ABA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28002" y="4692491"/>
            <a:ext cx="284440" cy="2844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4171" y="5361623"/>
            <a:ext cx="2634853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Mature Audience Focus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7654171" y="5797987"/>
            <a:ext cx="6005036" cy="674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TV-MA dominance reflects strategic positioning toward adult demographics with higher spending power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37592" y="6943011"/>
            <a:ext cx="13155216" cy="674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These insights reveal a sophisticated content strategy balancing global reach, genre diversity, and audience targeting to maintain market leadership in the competitive streaming landscape.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5422" y="404932"/>
            <a:ext cx="7772162" cy="43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Project Methodology &amp; Technical Implementation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15422" y="1206222"/>
            <a:ext cx="1962983" cy="21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 Processing Pipeline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15422" y="1588294"/>
            <a:ext cx="147280" cy="18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15422" y="1823323"/>
            <a:ext cx="7318058" cy="15240"/>
          </a:xfrm>
          <a:prstGeom prst="rect">
            <a:avLst/>
          </a:prstGeom>
          <a:solidFill>
            <a:srgbClr val="F2B42D"/>
          </a:solidFill>
          <a:ln/>
        </p:spPr>
      </p:sp>
      <p:sp>
        <p:nvSpPr>
          <p:cNvPr id="6" name="Text 4"/>
          <p:cNvSpPr/>
          <p:nvPr/>
        </p:nvSpPr>
        <p:spPr>
          <a:xfrm>
            <a:off x="515422" y="1927384"/>
            <a:ext cx="1732717" cy="21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 Extraction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15422" y="2291120"/>
            <a:ext cx="7318058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Collected and cleaned 8,807 Netflix records using Python pandas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15422" y="2784396"/>
            <a:ext cx="147280" cy="18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15422" y="3019425"/>
            <a:ext cx="7318058" cy="15240"/>
          </a:xfrm>
          <a:prstGeom prst="rect">
            <a:avLst/>
          </a:prstGeom>
          <a:solidFill>
            <a:srgbClr val="D7425E"/>
          </a:solidFill>
          <a:ln/>
        </p:spPr>
      </p:sp>
      <p:sp>
        <p:nvSpPr>
          <p:cNvPr id="10" name="Text 8"/>
          <p:cNvSpPr/>
          <p:nvPr/>
        </p:nvSpPr>
        <p:spPr>
          <a:xfrm>
            <a:off x="515422" y="3123486"/>
            <a:ext cx="1732717" cy="21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SQL Analysis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5422" y="3487222"/>
            <a:ext cx="7318058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Performed complex queries to identify patterns and trends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5422" y="3980498"/>
            <a:ext cx="147280" cy="18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5422" y="4215527"/>
            <a:ext cx="7318058" cy="15240"/>
          </a:xfrm>
          <a:prstGeom prst="rect">
            <a:avLst/>
          </a:prstGeom>
          <a:solidFill>
            <a:srgbClr val="DD785E"/>
          </a:solidFill>
          <a:ln/>
        </p:spPr>
      </p:sp>
      <p:sp>
        <p:nvSpPr>
          <p:cNvPr id="14" name="Text 12"/>
          <p:cNvSpPr/>
          <p:nvPr/>
        </p:nvSpPr>
        <p:spPr>
          <a:xfrm>
            <a:off x="515422" y="4319587"/>
            <a:ext cx="1732717" cy="21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Visualization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15422" y="4683323"/>
            <a:ext cx="7318058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Created interactive charts using matplotlib and web technologies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5422" y="5176599"/>
            <a:ext cx="147280" cy="18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15422" y="5411629"/>
            <a:ext cx="7318058" cy="15240"/>
          </a:xfrm>
          <a:prstGeom prst="rect">
            <a:avLst/>
          </a:prstGeom>
          <a:solidFill>
            <a:srgbClr val="48A8E2"/>
          </a:solidFill>
          <a:ln/>
        </p:spPr>
      </p:sp>
      <p:sp>
        <p:nvSpPr>
          <p:cNvPr id="18" name="Text 16"/>
          <p:cNvSpPr/>
          <p:nvPr/>
        </p:nvSpPr>
        <p:spPr>
          <a:xfrm>
            <a:off x="515422" y="5515689"/>
            <a:ext cx="1732717" cy="21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Dashboard Design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15422" y="5879425"/>
            <a:ext cx="7318058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Built responsive interface with HTML/CSS/JavaScript</a:t>
            </a:r>
            <a:endParaRPr lang="en-US" sz="11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0430" y="1224558"/>
            <a:ext cx="5922169" cy="5922169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8200430" y="7312343"/>
            <a:ext cx="5922169" cy="1568291"/>
          </a:xfrm>
          <a:prstGeom prst="roundRect">
            <a:avLst>
              <a:gd name="adj" fmla="val 14087"/>
            </a:avLst>
          </a:prstGeom>
          <a:solidFill>
            <a:srgbClr val="483304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710" y="7535108"/>
            <a:ext cx="184071" cy="1472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679061" y="7496413"/>
            <a:ext cx="5296257" cy="1178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Created by Vipin Gautam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December 2025</a:t>
            </a:r>
            <a:endParaRPr lang="en-US" sz="11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project demonstrates advanced big data analytics capabilities, transforming raw streaming data into actionable business intelligence.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2025-12-31T08:28:20Z</dcterms:created>
  <dcterms:modified xsi:type="dcterms:W3CDTF">2025-12-31T08:28:20Z</dcterms:modified>
</cp:coreProperties>
</file>